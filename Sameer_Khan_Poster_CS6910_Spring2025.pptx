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1098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29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771" autoAdjust="0"/>
  </p:normalViewPr>
  <p:slideViewPr>
    <p:cSldViewPr snapToGrid="0">
      <p:cViewPr>
        <p:scale>
          <a:sx n="25" d="100"/>
          <a:sy n="25" d="100"/>
        </p:scale>
        <p:origin x="30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B9475-AB20-4E52-9780-460141941E65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8270D-21A4-43F7-A124-2100ECCE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23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28270D-21A4-43F7-A124-2100ECCE63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33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9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52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48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02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19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1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85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4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10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98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3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54EFA-5317-41E7-8508-65DF0559D0B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7C3D6-AE0C-4B31-ABB7-AA9C0175C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rgbClr val="65290B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CEA550-B290-4C51-F61C-B01F57993354}"/>
              </a:ext>
            </a:extLst>
          </p:cNvPr>
          <p:cNvSpPr/>
          <p:nvPr/>
        </p:nvSpPr>
        <p:spPr>
          <a:xfrm>
            <a:off x="0" y="0"/>
            <a:ext cx="43891200" cy="2613124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AC041-8095-4E34-25D2-A19E0363D53B}"/>
              </a:ext>
            </a:extLst>
          </p:cNvPr>
          <p:cNvSpPr txBox="1"/>
          <p:nvPr/>
        </p:nvSpPr>
        <p:spPr>
          <a:xfrm>
            <a:off x="254384" y="160108"/>
            <a:ext cx="313930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6529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Prioritizing Bug Issue Reports in GitHub: A Comparative Study of Transformer Models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EA926E-B23D-4E92-3FBF-2BDCBA95CFBD}"/>
              </a:ext>
            </a:extLst>
          </p:cNvPr>
          <p:cNvSpPr/>
          <p:nvPr/>
        </p:nvSpPr>
        <p:spPr>
          <a:xfrm>
            <a:off x="1" y="2613124"/>
            <a:ext cx="10293457" cy="303052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E987B1-6BCC-8AFB-4E35-650D878A5A31}"/>
              </a:ext>
            </a:extLst>
          </p:cNvPr>
          <p:cNvSpPr/>
          <p:nvPr/>
        </p:nvSpPr>
        <p:spPr>
          <a:xfrm>
            <a:off x="109335" y="2779240"/>
            <a:ext cx="10074787" cy="1015663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7EA50-11DD-121A-01C6-3E7B27A928E3}"/>
              </a:ext>
            </a:extLst>
          </p:cNvPr>
          <p:cNvSpPr txBox="1"/>
          <p:nvPr/>
        </p:nvSpPr>
        <p:spPr>
          <a:xfrm>
            <a:off x="1158894" y="2779240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068683-1A06-885B-0917-CE63972BC77A}"/>
              </a:ext>
            </a:extLst>
          </p:cNvPr>
          <p:cNvSpPr txBox="1"/>
          <p:nvPr/>
        </p:nvSpPr>
        <p:spPr>
          <a:xfrm>
            <a:off x="345703" y="4253635"/>
            <a:ext cx="9602380" cy="1708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This Matter?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hosts millions of issues; manual prioritization is slow, inconsistent, and costly. Critical bugs get delayed.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Automated, reliable methods are needed to help developers focus on high-priority issues efficiently.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 modern transformer models (specialized vs. general vs. LLM) for this task.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We Compare?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Fine-tuned (code-specialized model)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BERT: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Fine-tuned (general language model)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GPT-3.5: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Few-shot prompt engineering (LLM)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Classify GitHub issues (Java repos) as High/Low priority using text (IRTs) and metadata.</a:t>
            </a:r>
          </a:p>
          <a:p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AE6F60-3403-1094-19EE-7636B1BD48B6}"/>
              </a:ext>
            </a:extLst>
          </p:cNvPr>
          <p:cNvSpPr/>
          <p:nvPr/>
        </p:nvSpPr>
        <p:spPr>
          <a:xfrm>
            <a:off x="33360200" y="2672117"/>
            <a:ext cx="10421666" cy="303052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015D27-800D-EA29-503F-9CB7BBA56B21}"/>
              </a:ext>
            </a:extLst>
          </p:cNvPr>
          <p:cNvSpPr txBox="1"/>
          <p:nvPr/>
        </p:nvSpPr>
        <p:spPr>
          <a:xfrm>
            <a:off x="18310416" y="2779240"/>
            <a:ext cx="72703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65290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Approach Diagram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77F01D-D994-7448-8F43-D33EF3479B13}"/>
              </a:ext>
            </a:extLst>
          </p:cNvPr>
          <p:cNvSpPr/>
          <p:nvPr/>
        </p:nvSpPr>
        <p:spPr>
          <a:xfrm>
            <a:off x="109334" y="20827402"/>
            <a:ext cx="10074787" cy="1015663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Takeaway</a:t>
            </a:r>
            <a:endParaRPr lang="en-US" sz="1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2905E5-BB13-8BF7-7B2B-568503CD8FAA}"/>
              </a:ext>
            </a:extLst>
          </p:cNvPr>
          <p:cNvSpPr txBox="1"/>
          <p:nvPr/>
        </p:nvSpPr>
        <p:spPr>
          <a:xfrm>
            <a:off x="149411" y="22265255"/>
            <a:ext cx="9602380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GPT-3.5 achieved the best accuracy (72.7%) on the original, unbalanced data.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BERT showed the strongest balance on the original data.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reached 100% Recall and the highest F1-Score (76.3%), ideal if missing critical bugs is unacceptable.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model based on need: Accuracy (GPT) vs. Recall (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CodeBERT+SMOTE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vs. Balance (BERT).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B7A659-2CC2-073F-EC20-5C5A43C59509}"/>
              </a:ext>
            </a:extLst>
          </p:cNvPr>
          <p:cNvSpPr/>
          <p:nvPr/>
        </p:nvSpPr>
        <p:spPr>
          <a:xfrm>
            <a:off x="33566870" y="2923853"/>
            <a:ext cx="10074787" cy="1015663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en-US" sz="1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983F02-0556-7C33-7D7E-7B5F1098191B}"/>
              </a:ext>
            </a:extLst>
          </p:cNvPr>
          <p:cNvSpPr/>
          <p:nvPr/>
        </p:nvSpPr>
        <p:spPr>
          <a:xfrm>
            <a:off x="33533639" y="15362761"/>
            <a:ext cx="10074787" cy="1015663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1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94480D-6C80-3E30-AD7B-98DE152D7AD6}"/>
              </a:ext>
            </a:extLst>
          </p:cNvPr>
          <p:cNvSpPr txBox="1"/>
          <p:nvPr/>
        </p:nvSpPr>
        <p:spPr>
          <a:xfrm>
            <a:off x="33643301" y="4112365"/>
            <a:ext cx="10147795" cy="1264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Did We Do It?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GIRT-Data (Java repos with IRTs).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1371600" lvl="1" indent="-9144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IRT (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IRT_raw_markdown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371600" lvl="1" indent="-914400">
              <a:buFont typeface="Arial" panose="020B0604020202020204" pitchFamily="34" charset="0"/>
              <a:buChar char="•"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 Metadata (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Stars, Commits, Contributors, Age, Activity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371600" lvl="1" indent="-914400">
              <a:buFont typeface="Arial" panose="020B0604020202020204" pitchFamily="34" charset="0"/>
              <a:buChar char="•"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IRT Metadata (Length, Headlines, </a:t>
            </a:r>
            <a:r>
              <a:rPr lang="en-IN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Has_IRT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&amp; Training:</a:t>
            </a:r>
          </a:p>
          <a:p>
            <a:pPr marL="1371600" lvl="1" indent="-914400">
              <a:buFont typeface="Arial" panose="020B0604020202020204" pitchFamily="34" charset="0"/>
              <a:buChar char="•"/>
            </a:pPr>
            <a:r>
              <a:rPr lang="en-IN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/BERT: Fine-tuned</a:t>
            </a:r>
          </a:p>
          <a:p>
            <a:pPr marL="1371600" lvl="1" indent="-9144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GPT-3.5: Few-shot prompting with text + key features.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Accuracy, Precision, Recall, F1-Score on validation set.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E9A0F6F-A60B-C3A9-D432-9D08898FE7EE}"/>
              </a:ext>
            </a:extLst>
          </p:cNvPr>
          <p:cNvSpPr/>
          <p:nvPr/>
        </p:nvSpPr>
        <p:spPr>
          <a:xfrm>
            <a:off x="33482653" y="22303900"/>
            <a:ext cx="10074787" cy="1015663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  <a:endParaRPr lang="en-US" sz="1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BC7C99-4D88-C2F8-33DE-762E9CFED808}"/>
              </a:ext>
            </a:extLst>
          </p:cNvPr>
          <p:cNvSpPr txBox="1"/>
          <p:nvPr/>
        </p:nvSpPr>
        <p:spPr>
          <a:xfrm>
            <a:off x="33747140" y="23571299"/>
            <a:ext cx="9894517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promising directions for using modern AI to effectively automate bug prioritization 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other models (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LLMs) &amp; fine-tuning LLMs.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features (sentiment, user history, code metrics).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integration &amp; evaluation with developer feedback.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1C9BD7D-1894-B3F0-42F1-63D8AEDF4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486" y="30595516"/>
            <a:ext cx="9163503" cy="210336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7C1413D-8A4C-365C-F04D-C785BD64DB10}"/>
              </a:ext>
            </a:extLst>
          </p:cNvPr>
          <p:cNvSpPr txBox="1"/>
          <p:nvPr/>
        </p:nvSpPr>
        <p:spPr>
          <a:xfrm>
            <a:off x="31901856" y="353068"/>
            <a:ext cx="122399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65290B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Presented by: Sameer Khan</a:t>
            </a:r>
          </a:p>
          <a:p>
            <a:r>
              <a:rPr lang="en-US" sz="4800" b="1" dirty="0">
                <a:solidFill>
                  <a:srgbClr val="65290B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Supervised by: Abbas </a:t>
            </a:r>
            <a:r>
              <a:rPr lang="en-US" sz="4800" b="1" dirty="0" err="1">
                <a:solidFill>
                  <a:srgbClr val="65290B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Heydarnoori</a:t>
            </a:r>
            <a:endParaRPr lang="en-US" sz="4800" b="1" dirty="0">
              <a:solidFill>
                <a:srgbClr val="65290B"/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  <a:p>
            <a:endParaRPr lang="en-US" sz="4800" dirty="0">
              <a:solidFill>
                <a:srgbClr val="6529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847B04-9D0A-7830-A4F8-D2C0CE793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196" y="23993511"/>
            <a:ext cx="14223351" cy="8356136"/>
          </a:xfrm>
          <a:prstGeom prst="rect">
            <a:avLst/>
          </a:prstGeom>
        </p:spPr>
      </p:pic>
      <p:pic>
        <p:nvPicPr>
          <p:cNvPr id="20" name="Picture 19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E041CC99-5A2B-EC37-5AF8-6C3A335F76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8269" y="4375374"/>
            <a:ext cx="20719573" cy="184363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B0A35A-C3E8-F82F-9F04-F42D87FEB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2547" y="23993512"/>
            <a:ext cx="8691916" cy="83561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CB24A2F-182B-A02A-AC81-218DFA014526}"/>
              </a:ext>
            </a:extLst>
          </p:cNvPr>
          <p:cNvSpPr txBox="1"/>
          <p:nvPr/>
        </p:nvSpPr>
        <p:spPr>
          <a:xfrm>
            <a:off x="33673478" y="16761982"/>
            <a:ext cx="100155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Accuracy: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GPT-3.5 (Prompting) of 72.7%.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Recall/F1: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Modified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 balanced data) of 1.0.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Balance (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/Rec/F1):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BERT Model.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59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</TotalTime>
  <Words>383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Sameer Khan</dc:creator>
  <cp:lastModifiedBy>Sameer Khan</cp:lastModifiedBy>
  <cp:revision>3</cp:revision>
  <dcterms:created xsi:type="dcterms:W3CDTF">2025-04-21T05:14:37Z</dcterms:created>
  <dcterms:modified xsi:type="dcterms:W3CDTF">2025-04-22T10:44:59Z</dcterms:modified>
</cp:coreProperties>
</file>